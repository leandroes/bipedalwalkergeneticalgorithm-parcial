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Progreso del mejor fitness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Mejor Fitness</c:v>
                </c:pt>
              </c:strCache>
            </c:strRef>
          </c:tx>
          <c:spPr>
            <a:solidFill>
              <a:srgbClr val="00D4B8"/>
            </a:solidFill>
            <a:ln w="31750" cap="flat">
              <a:solidFill>
                <a:srgbClr val="00D4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B8"/>
              </a:solidFill>
              <a:ln w="9525" cap="flat">
                <a:solidFill>
                  <a:srgbClr val="00D4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120</c:v>
                </c:pt>
                <c:pt idx="2">
                  <c:v>280</c:v>
                </c:pt>
                <c:pt idx="3">
                  <c:v>450</c:v>
                </c:pt>
                <c:pt idx="4">
                  <c:v>600</c:v>
                </c:pt>
                <c:pt idx="5">
                  <c:v>720</c:v>
                </c:pt>
                <c:pt idx="6">
                  <c:v>860</c:v>
                </c:pt>
                <c:pt idx="7">
                  <c:v>903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FF6B35"/>
            </a:solidFill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35</c:v>
                </c:pt>
                <c:pt idx="2">
                  <c:v>60</c:v>
                </c:pt>
                <c:pt idx="3">
                  <c:v>42</c:v>
                </c:pt>
                <c:pt idx="4">
                  <c:v>50</c:v>
                </c:pt>
                <c:pt idx="5">
                  <c:v>45</c:v>
                </c:pt>
                <c:pt idx="6">
                  <c:v>44</c:v>
                </c:pt>
                <c:pt idx="7">
                  <c:v>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C3A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0A1E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389120" cy="4389120"/>
          </a:xfrm>
          <a:prstGeom prst="ellipse">
            <a:avLst/>
          </a:prstGeom>
          <a:solidFill>
            <a:srgbClr val="004D44">
              <a:alpha val="70000"/>
            </a:srgbClr>
          </a:solidFill>
          <a:ln w="12700">
            <a:solidFill>
              <a:srgbClr val="004D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1B3A5C">
              <a:alpha val="8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2651760" cy="34747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INTELIGENCIA ARTIFICIAL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Bipedal Walker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Genético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5029200" cy="36576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584448"/>
            <a:ext cx="118872" cy="118872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547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Igor Estrada Santos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68496"/>
            <a:ext cx="118872" cy="118872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Jerson Ernesto Chura Pacci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118872" cy="118872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Robert Urday Jerí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4663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3BF"/>
                </a:solidFill>
              </a:rPr>
              <a:t>Universidad La Salle ·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73568" y="1645920"/>
            <a:ext cx="329184" cy="329184"/>
          </a:xfrm>
          <a:prstGeom prst="ellipse">
            <a:avLst/>
          </a:prstGeom>
          <a:solidFill>
            <a:srgbClr val="00D4B8">
              <a:alpha val="80000"/>
            </a:srgbClr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965960"/>
            <a:ext cx="91440" cy="502920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900000">
            <a:off x="7991856" y="2450592"/>
            <a:ext cx="82296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900000">
            <a:off x="8202168" y="2450592"/>
            <a:ext cx="82296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600000">
            <a:off x="7936992" y="2779776"/>
            <a:ext cx="82296" cy="347472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600000">
            <a:off x="8257032" y="2779776"/>
            <a:ext cx="82296" cy="347472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construimos?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686800" cy="36576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2724912" cy="329184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2724912" cy="7315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🧬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Física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bípedo articulado simulado con Matter.js (motor de física 2D): torso, muslos y espinillas con restricciones de articulación.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724912" cy="329184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51560"/>
            <a:ext cx="2724912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20700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🤖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Genético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de 150 individuos evoluciona durante generaciones para aprender a caminar maximizando la distancia recorrida.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051560"/>
            <a:ext cx="2724912" cy="329184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051560"/>
            <a:ext cx="2724912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207008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en Tiempo Real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en canvas HTML5 con gráfica de progreso, control de velocidad (1×–8×) y métricas por generación.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F"/>
                </a:solidFill>
              </a:rPr>
              <a:t>individuos / gen.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4526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74320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F"/>
                </a:solidFill>
              </a:rPr>
              <a:t>genes por individuo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526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84632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F"/>
                </a:solidFill>
              </a:rPr>
              <a:t>pasos de simulación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4526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fps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4944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F"/>
                </a:solidFill>
              </a:rPr>
              <a:t>física en canvas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Física del Avatar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686800" cy="36576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3931920" cy="393192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417320"/>
            <a:ext cx="640080" cy="822960"/>
          </a:xfrm>
          <a:prstGeom prst="rect">
            <a:avLst/>
          </a:prstGeom>
          <a:solidFill>
            <a:srgbClr val="2C3E50"/>
          </a:solidFill>
          <a:ln w="25400">
            <a:solidFill>
              <a:srgbClr val="00D4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417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B8"/>
                </a:solidFill>
              </a:rPr>
              <a:t>TORSO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0" y="2167128"/>
            <a:ext cx="182880" cy="18288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167128"/>
            <a:ext cx="182880" cy="18288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3055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D4B8"/>
                </a:solidFill>
              </a:rPr>
              <a:t>cadera_L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60904" y="213055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B8"/>
                </a:solidFill>
              </a:rPr>
              <a:t>cadera_R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47088" y="2331720"/>
            <a:ext cx="201168" cy="566928"/>
          </a:xfrm>
          <a:prstGeom prst="rect">
            <a:avLst/>
          </a:prstGeom>
          <a:solidFill>
            <a:srgbClr val="FF6B35">
              <a:alpha val="8000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2331720"/>
            <a:ext cx="201168" cy="566928"/>
          </a:xfrm>
          <a:prstGeom prst="rect">
            <a:avLst/>
          </a:prstGeom>
          <a:solidFill>
            <a:srgbClr val="FF6B35">
              <a:alpha val="8000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53288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muslo_L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42616" y="253288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muslo_R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74520" y="2862072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41448" y="2862072"/>
            <a:ext cx="164592" cy="1645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84378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D700"/>
                </a:solidFill>
              </a:rPr>
              <a:t>rodilla_L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15184" y="284378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700"/>
                </a:solidFill>
              </a:rPr>
              <a:t>rodilla_R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3008376"/>
            <a:ext cx="173736" cy="548640"/>
          </a:xfrm>
          <a:prstGeom prst="rect">
            <a:avLst/>
          </a:prstGeom>
          <a:solidFill>
            <a:srgbClr val="FF6B35">
              <a:alpha val="50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32304" y="3008376"/>
            <a:ext cx="173736" cy="548640"/>
          </a:xfrm>
          <a:prstGeom prst="rect">
            <a:avLst/>
          </a:prstGeom>
          <a:solidFill>
            <a:srgbClr val="FF6B35">
              <a:alpha val="50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20954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F"/>
                </a:solidFill>
              </a:rPr>
              <a:t>espinilla_L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15184" y="320954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</a:rPr>
              <a:t>espinilla_R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347472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4572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</a:rPr>
              <a:t>suelo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754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F"/>
                </a:solidFill>
              </a:rPr>
              <a:t>5 cuerpos rígidos + 4 restricciones articuladas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98848" y="1097280"/>
            <a:ext cx="64008" cy="34747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10972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física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45152" y="127101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Matter.js (2D)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98848" y="1609344"/>
            <a:ext cx="64008" cy="34747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Fricción de aire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45152" y="178308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 — mantiene equilibrio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98848" y="2121408"/>
            <a:ext cx="64008" cy="34747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12140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Fricción suelo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45152" y="229514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— grip realista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98848" y="2633472"/>
            <a:ext cx="64008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263347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Gravedad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45152" y="280720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1.0 (estándar)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98848" y="3145536"/>
            <a:ext cx="64008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31455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joints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45152" y="331927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· error (proporcional)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98848" y="3657600"/>
            <a:ext cx="64008" cy="3474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36576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colisión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45152" y="383133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/ suelo / obstáculos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98848" y="4169664"/>
            <a:ext cx="64008" cy="3474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45152" y="41696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obstáculos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645152" y="434340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al superar 1000 px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Genoma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686800" cy="36576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genes de valor real codifican osciladores sinusoidales para cada articulación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412480" cy="658368"/>
          </a:xfrm>
          <a:prstGeom prst="rect">
            <a:avLst/>
          </a:prstGeom>
          <a:solidFill>
            <a:srgbClr val="081524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630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θ_target(t) = amplitude · sin( 2π · stride_freq · step / 60 + phase 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594360" cy="320040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1284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8"/>
                </a:solidFill>
              </a:rPr>
              <a:t>#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2212848"/>
            <a:ext cx="1188720" cy="320040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2128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8"/>
                </a:solidFill>
              </a:rPr>
              <a:t>Gen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212848"/>
            <a:ext cx="1645920" cy="320040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2128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8"/>
                </a:solidFill>
              </a:rPr>
              <a:t>Articulación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69080" y="2212848"/>
            <a:ext cx="2377440" cy="320040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2128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8"/>
                </a:solidFill>
              </a:rPr>
              <a:t>Tipo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212848"/>
            <a:ext cx="2286000" cy="320040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212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8"/>
                </a:solidFill>
              </a:rPr>
              <a:t>Rango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532888"/>
            <a:ext cx="8366760" cy="393192"/>
          </a:xfrm>
          <a:prstGeom prst="rect">
            <a:avLst/>
          </a:prstGeom>
          <a:solidFill>
            <a:srgbClr val="0D2A1F"/>
          </a:solidFill>
          <a:ln w="6350">
            <a:solidFill>
              <a:srgbClr val="1C3A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532888"/>
            <a:ext cx="54864" cy="39319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5511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16152" y="25511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phase_hip, amp_hip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50592" y="25511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Cadera izq.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42232" y="2551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/ Amplitud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65392" y="25511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2π] / [0, π/2]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944368"/>
            <a:ext cx="8366760" cy="393192"/>
          </a:xfrm>
          <a:prstGeom prst="rect">
            <a:avLst/>
          </a:prstGeom>
          <a:solidFill>
            <a:srgbClr val="0D1F2A"/>
          </a:solidFill>
          <a:ln w="6350">
            <a:solidFill>
              <a:srgbClr val="1C3A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944368"/>
            <a:ext cx="54864" cy="39319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29626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16152" y="29626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phase_knee, amp_knee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50592" y="296265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Rodilla izq.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42232" y="29626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/ Amplitud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5392" y="29626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2π] / [0, π/3]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3355848"/>
            <a:ext cx="8366760" cy="393192"/>
          </a:xfrm>
          <a:prstGeom prst="rect">
            <a:avLst/>
          </a:prstGeom>
          <a:solidFill>
            <a:srgbClr val="0D2A1F"/>
          </a:solidFill>
          <a:ln w="6350">
            <a:solidFill>
              <a:srgbClr val="1C3A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355848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3741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16152" y="33741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phase_hip, amp_hip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50592" y="33741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Cadera der.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42232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/ Amplitud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65392" y="33741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2π] / [0, π/2]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767328"/>
            <a:ext cx="8366760" cy="393192"/>
          </a:xfrm>
          <a:prstGeom prst="rect">
            <a:avLst/>
          </a:prstGeom>
          <a:solidFill>
            <a:srgbClr val="0D1F2A"/>
          </a:solidFill>
          <a:ln w="6350">
            <a:solidFill>
              <a:srgbClr val="1C3A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3767328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" y="37856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16152" y="37856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phase_knee, amp_knee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50592" y="37856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Rodilla der.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42232" y="3785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/ Amplitud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65392" y="37856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2π] / [0, π/3]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4178808"/>
            <a:ext cx="8366760" cy="393192"/>
          </a:xfrm>
          <a:prstGeom prst="rect">
            <a:avLst/>
          </a:prstGeom>
          <a:solidFill>
            <a:srgbClr val="1A1230"/>
          </a:solidFill>
          <a:ln w="6350">
            <a:solidFill>
              <a:srgbClr val="1C3A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4178808"/>
            <a:ext cx="54864" cy="3931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" y="41970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16152" y="41970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stride_freq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450592" y="41970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142232" y="4197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oscil.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65392" y="41970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[0.3, 2.0]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Inicialización híbrida: 50% con patrón de marcha pre-seeded (phase_hip_R ≈ phase_hip_L + π) + 50% aleatorio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Ciclo del Algoritmo Genético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686800" cy="36576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1024128"/>
            <a:ext cx="1609344" cy="3749040"/>
          </a:xfrm>
          <a:prstGeom prst="rect">
            <a:avLst/>
          </a:prstGeom>
          <a:solidFill>
            <a:srgbClr val="0A1E3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24128"/>
            <a:ext cx="1609344" cy="7315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188720"/>
            <a:ext cx="475488" cy="475488"/>
          </a:xfrm>
          <a:prstGeom prst="ellipse">
            <a:avLst/>
          </a:prstGeom>
          <a:solidFill>
            <a:srgbClr val="00D4B8">
              <a:alpha val="80000"/>
            </a:srgbClr>
          </a:solidFill>
          <a:ln w="25400">
            <a:solidFill>
              <a:srgbClr val="00D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B8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🏃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14630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individuo corre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pasos de física.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distancia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recorrida – penalización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caída.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02536" y="2788920"/>
            <a:ext cx="128016" cy="36576"/>
          </a:xfrm>
          <a:prstGeom prst="rect">
            <a:avLst/>
          </a:prstGeom>
          <a:solidFill>
            <a:srgbClr val="8BA3BF"/>
          </a:solidFill>
          <a:ln w="12700">
            <a:solidFill>
              <a:srgbClr val="8BA3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265176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BF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139696" y="1024128"/>
            <a:ext cx="1609344" cy="3749040"/>
          </a:xfrm>
          <a:prstGeom prst="rect">
            <a:avLst/>
          </a:prstGeom>
          <a:solidFill>
            <a:srgbClr val="0A1E3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39696" y="1024128"/>
            <a:ext cx="1609344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6624" y="1188720"/>
            <a:ext cx="475488" cy="475488"/>
          </a:xfrm>
          <a:prstGeom prst="ellipse">
            <a:avLst/>
          </a:prstGeom>
          <a:solidFill>
            <a:srgbClr val="7B61FF">
              <a:alpha val="80000"/>
            </a:srgbClr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61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231136" y="1755648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212848" y="2286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12848" y="2670048"/>
            <a:ext cx="14630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Torneo binario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(K=2): el mejor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 elegidos 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 pasa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padre.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58184" y="2788920"/>
            <a:ext cx="128016" cy="36576"/>
          </a:xfrm>
          <a:prstGeom prst="rect">
            <a:avLst/>
          </a:prstGeom>
          <a:solidFill>
            <a:srgbClr val="8BA3BF"/>
          </a:solidFill>
          <a:ln w="12700">
            <a:solidFill>
              <a:srgbClr val="8BA3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265176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BF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895344" y="1024128"/>
            <a:ext cx="1609344" cy="3749040"/>
          </a:xfrm>
          <a:prstGeom prst="rect">
            <a:avLst/>
          </a:prstGeom>
          <a:solidFill>
            <a:srgbClr val="0A1E3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95344" y="1024128"/>
            <a:ext cx="1609344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2272" y="1188720"/>
            <a:ext cx="475488" cy="475488"/>
          </a:xfrm>
          <a:prstGeom prst="ellipse">
            <a:avLst/>
          </a:prstGeom>
          <a:solidFill>
            <a:srgbClr val="FF6B35">
              <a:alpha val="8000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986784" y="1755648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968496" y="2286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68496" y="2670048"/>
            <a:ext cx="14630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uniforme: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gen 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heredaad de padre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 B con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50%.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13832" y="2788920"/>
            <a:ext cx="128016" cy="36576"/>
          </a:xfrm>
          <a:prstGeom prst="rect">
            <a:avLst/>
          </a:prstGeom>
          <a:solidFill>
            <a:srgbClr val="8BA3BF"/>
          </a:solidFill>
          <a:ln w="12700">
            <a:solidFill>
              <a:srgbClr val="8BA3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265176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BF"/>
                </a:solidFill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50992" y="1024128"/>
            <a:ext cx="1609344" cy="3749040"/>
          </a:xfrm>
          <a:prstGeom prst="rect">
            <a:avLst/>
          </a:prstGeom>
          <a:solidFill>
            <a:srgbClr val="0A1E3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50992" y="1024128"/>
            <a:ext cx="1609344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188720"/>
            <a:ext cx="475488" cy="475488"/>
          </a:xfrm>
          <a:prstGeom prst="ellipse">
            <a:avLst/>
          </a:prstGeom>
          <a:solidFill>
            <a:srgbClr val="FFD700">
              <a:alpha val="80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742432" y="1755648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724144" y="2286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Mutación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724144" y="2670048"/>
            <a:ext cx="14630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Gaussiana adaptiva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 dinámico).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P(mutación) = 25%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gen.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69480" y="2788920"/>
            <a:ext cx="128016" cy="36576"/>
          </a:xfrm>
          <a:prstGeom prst="rect">
            <a:avLst/>
          </a:prstGeom>
          <a:solidFill>
            <a:srgbClr val="8BA3BF"/>
          </a:solidFill>
          <a:ln w="12700">
            <a:solidFill>
              <a:srgbClr val="8BA3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65176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3BF"/>
                </a:solidFill>
              </a:rPr>
              <a:t>›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406640" y="1024128"/>
            <a:ext cx="1609344" cy="3749040"/>
          </a:xfrm>
          <a:prstGeom prst="rect">
            <a:avLst/>
          </a:prstGeom>
          <a:solidFill>
            <a:srgbClr val="0A1E3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06640" y="1024128"/>
            <a:ext cx="1609344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73568" y="1188720"/>
            <a:ext cx="475488" cy="475488"/>
          </a:xfrm>
          <a:prstGeom prst="ellipse">
            <a:avLst/>
          </a:prstGeom>
          <a:solidFill>
            <a:srgbClr val="2ECC71">
              <a:alpha val="8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5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498080" y="1755648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479792" y="2286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Élite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479792" y="2670048"/>
            <a:ext cx="14630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individuo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intacto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siguiente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(ELITE=1).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4864608"/>
            <a:ext cx="8458200" cy="36576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90118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Repite hasta alcanzar el límite de fitness o hasta que el usuario detenga la simulación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Intensificación y Diversificación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686800" cy="36576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4069080" cy="393192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4069080" cy="73152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INTENSIFICACIÓN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BF"/>
                </a:solidFill>
              </a:rPr>
              <a:t>σ adaptivo basado en diversidad poblacional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749040" cy="621792"/>
          </a:xfrm>
          <a:prstGeom prst="rect">
            <a:avLst/>
          </a:prstGeom>
          <a:solidFill>
            <a:srgbClr val="081524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= σ_fitness / μ_fitness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σ_mutación = 0.15 + 0.75 × (1 − CV)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Diversidad alta (CV↑) → σ bajo → EXPLOTACIÓN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083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Diversidad baja (CV↓) → σ alto → EXPLORACIÓN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10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Rango de σ: [0.15, 0.90]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24128"/>
            <a:ext cx="4069080" cy="393192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24128"/>
            <a:ext cx="40690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704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DIVERSIFICACIÓN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5179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BF"/>
                </a:solidFill>
              </a:rPr>
              <a:t>Detección y recuperación de estancamiento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1874520"/>
            <a:ext cx="3749040" cy="621792"/>
          </a:xfrm>
          <a:prstGeom prst="rect">
            <a:avLst/>
          </a:prstGeom>
          <a:solidFill>
            <a:srgbClr val="1C0D0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Ventana = 7 gen. · Δbest_fitness &lt; 3 px → ESTANCADO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σ × 1.5 para hijos de cruce (shake)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0083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~13 individuos seeded (patrón marcha)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10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~10 individuos totalmente aleatorios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813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Total inyectado: ~23% de la población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8646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estrategias trabajan juntas para evitar óptimos locales y acelerar la convergencia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Fitness y Progresión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8686800" cy="36576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4069080" cy="233172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de Fitness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794760" cy="658368"/>
          </a:xfrm>
          <a:prstGeom prst="rect">
            <a:avLst/>
          </a:prstGeom>
          <a:solidFill>
            <a:srgbClr val="081524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3619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 = max(0, distancia − penalización_caída)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penalización = min(distancia × 0.5, 80)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258568"/>
            <a:ext cx="91440" cy="9144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2128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= posX_torso − posX_spawn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542032"/>
            <a:ext cx="91440" cy="9144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9631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Penalización si torso.y &gt; umbral_caída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825496"/>
            <a:ext cx="91440" cy="9144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797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+200 px bonus por cada obstáculo superado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08960"/>
            <a:ext cx="91440" cy="91440"/>
          </a:xfrm>
          <a:prstGeom prst="ellipse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0632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obstáculos activo al superar 1000 px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709160" y="1024128"/>
          <a:ext cx="4160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11480" y="3474720"/>
            <a:ext cx="2743200" cy="146304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3474720"/>
            <a:ext cx="64008" cy="1463040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54787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76072" y="3913632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Torneo binario mantiene presión selectiva sin convergencia prematura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37560" y="3474720"/>
            <a:ext cx="2743200" cy="146304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337560" y="3474720"/>
            <a:ext cx="64008" cy="14630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02152" y="354787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Dinámico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02152" y="3913632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Mutación adaptiva balancea explotación y exploración automáticamente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3474720"/>
            <a:ext cx="2743200" cy="1463040"/>
          </a:xfrm>
          <a:prstGeom prst="rect">
            <a:avLst/>
          </a:prstGeom>
          <a:solidFill>
            <a:srgbClr val="112233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63640" y="3474720"/>
            <a:ext cx="64008" cy="1463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28232" y="354787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Anti-stagnation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28232" y="3913632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individuos frescos reactiva la búsqueda cuando el fitness se atasca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4114800" cy="4114800"/>
          </a:xfrm>
          <a:prstGeom prst="ellipse">
            <a:avLst/>
          </a:prstGeom>
          <a:solidFill>
            <a:srgbClr val="003D35">
              <a:alpha val="80000"/>
            </a:srgbClr>
          </a:solidFill>
          <a:ln w="12700">
            <a:solidFill>
              <a:srgbClr val="003D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B1250">
              <a:alpha val="75000"/>
            </a:srgbClr>
          </a:solidFill>
          <a:ln w="12700">
            <a:solidFill>
              <a:srgbClr val="1B12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94760" cy="1463040"/>
          </a:xfrm>
          <a:prstGeom prst="rect">
            <a:avLst/>
          </a:prstGeom>
          <a:solidFill>
            <a:srgbClr val="0A1E3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64008" cy="1463040"/>
          </a:xfrm>
          <a:prstGeom prst="rect">
            <a:avLst/>
          </a:prstGeom>
          <a:solidFill>
            <a:srgbClr val="00D4B8"/>
          </a:solidFill>
          <a:ln w="12700">
            <a:solidFill>
              <a:srgbClr val="00D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5448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 Codificación efectiva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965960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genes reales capturan patrones de marcha bípeda sin modelado explícito del movimiento.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794760" cy="1463040"/>
          </a:xfrm>
          <a:prstGeom prst="rect">
            <a:avLst/>
          </a:prstGeom>
          <a:solidFill>
            <a:srgbClr val="0A1E3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71600"/>
            <a:ext cx="64008" cy="14630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55448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Convergencia rápida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10912" y="1965960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inicialización semi-seeded reduce generaciones necesarias para encontrar marcha viable.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3794760" cy="1463040"/>
          </a:xfrm>
          <a:prstGeom prst="rect">
            <a:avLst/>
          </a:prstGeom>
          <a:solidFill>
            <a:srgbClr val="0A1E3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63240"/>
            <a:ext cx="64008" cy="1463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24612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Balance exp./explor.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3657600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dinámico + inyección anti-estancamiento evitan óptimos locales de forma automática.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063240"/>
            <a:ext cx="3794760" cy="1463040"/>
          </a:xfrm>
          <a:prstGeom prst="rect">
            <a:avLst/>
          </a:prstGeom>
          <a:solidFill>
            <a:srgbClr val="0A1E30"/>
          </a:solidFill>
          <a:ln w="15240">
            <a:solidFill>
              <a:srgbClr val="1C3A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063240"/>
            <a:ext cx="64008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24612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Resultado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10912" y="3657600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avatar aprende a caminar y superar obstáculos únicamente mediante selección natural artificial.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8321040" cy="36576"/>
          </a:xfrm>
          <a:prstGeom prst="rect">
            <a:avLst/>
          </a:prstGeom>
          <a:solidFill>
            <a:srgbClr val="1C3A58"/>
          </a:solidFill>
          <a:ln w="12700">
            <a:solidFill>
              <a:srgbClr val="1C3A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Estrada  ·  Jerson Chura  ·  Joel Urday   |   Inteligencia Artificial · Universidad La Salle ·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Bipedal Walker · Algoritmo Genético</dc:title>
  <dc:subject>PptxGenJS Presentation</dc:subject>
  <dc:creator>Leandro Igor Estrada Santos, Jerson Ernesto Chura Pacci, Joel Robert Urday Jerí</dc:creator>
  <cp:lastModifiedBy>Leandro Igor Estrada Santos, Jerson Ernesto Chura Pacci, Joel Robert Urday Jerí</cp:lastModifiedBy>
  <cp:revision>1</cp:revision>
  <dcterms:created xsi:type="dcterms:W3CDTF">2026-05-22T16:45:02Z</dcterms:created>
  <dcterms:modified xsi:type="dcterms:W3CDTF">2026-05-22T16:45:02Z</dcterms:modified>
</cp:coreProperties>
</file>