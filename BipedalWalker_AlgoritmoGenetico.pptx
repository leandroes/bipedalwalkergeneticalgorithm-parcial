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Arial"/>
              </a:rPr>
              <a:t>Progreso del mejor fitness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Mejor Fitness</c:v>
                </c:pt>
              </c:strCache>
            </c:strRef>
          </c:tx>
          <c:spPr>
            <a:solidFill>
              <a:srgbClr val="00D4B8"/>
            </a:solidFill>
            <a:ln w="31750" cap="flat">
              <a:solidFill>
                <a:srgbClr val="00D4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D4B8"/>
              </a:solidFill>
              <a:ln w="9525" cap="flat">
                <a:solidFill>
                  <a:srgbClr val="00D4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</c:v>
                </c:pt>
                <c:pt idx="1">
                  <c:v>120</c:v>
                </c:pt>
                <c:pt idx="2">
                  <c:v>280</c:v>
                </c:pt>
                <c:pt idx="3">
                  <c:v>450</c:v>
                </c:pt>
                <c:pt idx="4">
                  <c:v>600</c:v>
                </c:pt>
                <c:pt idx="5">
                  <c:v>720</c:v>
                </c:pt>
                <c:pt idx="6">
                  <c:v>860</c:v>
                </c:pt>
                <c:pt idx="7">
                  <c:v>903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Promedio</c:v>
                </c:pt>
              </c:strCache>
            </c:strRef>
          </c:tx>
          <c:spPr>
            <a:solidFill>
              <a:srgbClr val="FF6B35"/>
            </a:solidFill>
            <a:ln w="317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35</c:v>
                </c:pt>
                <c:pt idx="2">
                  <c:v>60</c:v>
                </c:pt>
                <c:pt idx="3">
                  <c:v>42</c:v>
                </c:pt>
                <c:pt idx="4">
                  <c:v>50</c:v>
                </c:pt>
                <c:pt idx="5">
                  <c:v>45</c:v>
                </c:pt>
                <c:pt idx="6">
                  <c:v>44</c:v>
                </c:pt>
                <c:pt idx="7">
                  <c:v>45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A3B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1C3A5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A3B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0A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389120" cy="4389120"/>
          </a:xfrm>
          <a:prstGeom prst="ellipse">
            <a:avLst/>
          </a:prstGeom>
          <a:solidFill>
            <a:srgbClr val="004D44">
              <a:alpha val="70000"/>
            </a:srgbClr>
          </a:solidFill>
          <a:ln w="12700">
            <a:solidFill>
              <a:srgbClr val="004D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2743200"/>
            <a:ext cx="3200400" cy="3200400"/>
          </a:xfrm>
          <a:prstGeom prst="ellipse">
            <a:avLst/>
          </a:prstGeom>
          <a:solidFill>
            <a:srgbClr val="1B3A5C">
              <a:alpha val="80000"/>
            </a:srgbClr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34440"/>
            <a:ext cx="2651760" cy="347472"/>
          </a:xfrm>
          <a:prstGeom prst="rect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B2A"/>
                </a:solidFill>
              </a:rPr>
              <a:t>INTELIGENCIA ARTIFICIAL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772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Bipedal Walker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00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Algoritmo Genético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640080" y="3383280"/>
            <a:ext cx="5029200" cy="36576"/>
          </a:xfrm>
          <a:prstGeom prst="rect">
            <a:avLst/>
          </a:prstGeom>
          <a:solidFill>
            <a:srgbClr val="1C3A58"/>
          </a:solidFill>
          <a:ln w="12700">
            <a:solidFill>
              <a:srgbClr val="1C3A5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584448"/>
            <a:ext cx="118872" cy="118872"/>
          </a:xfrm>
          <a:prstGeom prst="ellipse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5478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Leandro Igor Estrada Santos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968496"/>
            <a:ext cx="118872" cy="118872"/>
          </a:xfrm>
          <a:prstGeom prst="ellipse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9319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Jerson Ernesto Chura Pacci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352544"/>
            <a:ext cx="118872" cy="118872"/>
          </a:xfrm>
          <a:prstGeom prst="ellipse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31596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 Robert Urday Jerí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0" y="46634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A3BF"/>
                </a:solidFill>
              </a:rPr>
              <a:t>Universidad La Salle · 2026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73568" y="1645920"/>
            <a:ext cx="329184" cy="329184"/>
          </a:xfrm>
          <a:prstGeom prst="ellipse">
            <a:avLst/>
          </a:prstGeom>
          <a:solidFill>
            <a:srgbClr val="00D4B8">
              <a:alpha val="80000"/>
            </a:srgbClr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92440" y="1965960"/>
            <a:ext cx="91440" cy="502920"/>
          </a:xfrm>
          <a:prstGeom prst="rect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-900000">
            <a:off x="7991856" y="2450592"/>
            <a:ext cx="82296" cy="36576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900000">
            <a:off x="8202168" y="2450592"/>
            <a:ext cx="82296" cy="36576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00000">
            <a:off x="7936992" y="2779776"/>
            <a:ext cx="82296" cy="347472"/>
          </a:xfrm>
          <a:prstGeom prst="rect">
            <a:avLst/>
          </a:prstGeom>
          <a:solidFill>
            <a:srgbClr val="FF6B35">
              <a:alpha val="70000"/>
            </a:srgbClr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-600000">
            <a:off x="8257032" y="2779776"/>
            <a:ext cx="82296" cy="347472"/>
          </a:xfrm>
          <a:prstGeom prst="rect">
            <a:avLst/>
          </a:prstGeom>
          <a:solidFill>
            <a:srgbClr val="FF6B35">
              <a:alpha val="70000"/>
            </a:srgbClr>
          </a:solidFill>
          <a:ln w="12700">
            <a:solidFill>
              <a:srgbClr val="FF6B3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¿Qué construimos?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8686800" cy="36576"/>
          </a:xfrm>
          <a:prstGeom prst="rect">
            <a:avLst/>
          </a:prstGeom>
          <a:solidFill>
            <a:srgbClr val="1C3A58"/>
          </a:solidFill>
          <a:ln w="12700">
            <a:solidFill>
              <a:srgbClr val="1C3A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1051560"/>
            <a:ext cx="2724912" cy="3291840"/>
          </a:xfrm>
          <a:prstGeom prst="rect">
            <a:avLst/>
          </a:prstGeom>
          <a:solidFill>
            <a:srgbClr val="112233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051560"/>
            <a:ext cx="2724912" cy="73152"/>
          </a:xfrm>
          <a:prstGeom prst="rect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6152" y="1188720"/>
            <a:ext cx="914400" cy="640080"/>
          </a:xfrm>
          <a:prstGeom prst="ellipse">
            <a:avLst/>
          </a:prstGeom>
          <a:solidFill>
            <a:srgbClr val="00D4B8">
              <a:alpha val="75000"/>
            </a:srgbClr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6152" y="118872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SIM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Simulación Física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Avatar bípedo articulado simulado con Matter.js (motor de física 2D): torso, muslos y espinillas con restricciones de articulación.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37560" y="1051560"/>
            <a:ext cx="2724912" cy="3291840"/>
          </a:xfrm>
          <a:prstGeom prst="rect">
            <a:avLst/>
          </a:prstGeom>
          <a:solidFill>
            <a:srgbClr val="112233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051560"/>
            <a:ext cx="2724912" cy="73152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42232" y="1188720"/>
            <a:ext cx="914400" cy="640080"/>
          </a:xfrm>
          <a:prstGeom prst="ellipse">
            <a:avLst/>
          </a:prstGeom>
          <a:solidFill>
            <a:srgbClr val="7B61FF">
              <a:alpha val="75000"/>
            </a:srgbClr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42232" y="118872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182880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Algoritmo Genético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74720" y="22402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de 150 individuos evoluciona durante generaciones para aprender a caminar maximizando la distancia recorrida.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1051560"/>
            <a:ext cx="2724912" cy="3291840"/>
          </a:xfrm>
          <a:prstGeom prst="rect">
            <a:avLst/>
          </a:prstGeom>
          <a:solidFill>
            <a:srgbClr val="112233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1051560"/>
            <a:ext cx="2724912" cy="7315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68312" y="1188720"/>
            <a:ext cx="914400" cy="640080"/>
          </a:xfrm>
          <a:prstGeom prst="ellipse">
            <a:avLst/>
          </a:prstGeom>
          <a:solidFill>
            <a:srgbClr val="FF6B35">
              <a:alpha val="75000"/>
            </a:srgbClr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8312" y="118872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WEB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182880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 en Tiempo Real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0" y="22402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en canvas HTML5 con gráfica de progreso, control de velocidad (1×–64×) y métricas por generación.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452628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4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" y="48920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BF"/>
                </a:solidFill>
              </a:rPr>
              <a:t>individuos / gen.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43200" y="452628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4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2743200" y="48920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BF"/>
                </a:solidFill>
              </a:rPr>
              <a:t>genes por individuo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452628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4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1000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4846320" y="48920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BF"/>
                </a:solidFill>
              </a:rPr>
              <a:t>pasos de simulación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49440" y="452628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4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 fps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6949440" y="48920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BF"/>
                </a:solidFill>
              </a:rPr>
              <a:t>física en canvas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Física del Avatar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8686800" cy="36576"/>
          </a:xfrm>
          <a:prstGeom prst="rect">
            <a:avLst/>
          </a:prstGeom>
          <a:solidFill>
            <a:srgbClr val="1C3A58"/>
          </a:solidFill>
          <a:ln w="12700">
            <a:solidFill>
              <a:srgbClr val="1C3A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1005840"/>
            <a:ext cx="3931920" cy="3931920"/>
          </a:xfrm>
          <a:prstGeom prst="rect">
            <a:avLst/>
          </a:prstGeom>
          <a:solidFill>
            <a:srgbClr val="112233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20240" y="1417320"/>
            <a:ext cx="640080" cy="822960"/>
          </a:xfrm>
          <a:prstGeom prst="rect">
            <a:avLst/>
          </a:prstGeom>
          <a:solidFill>
            <a:srgbClr val="2C3E50"/>
          </a:solidFill>
          <a:ln w="25400">
            <a:solidFill>
              <a:srgbClr val="00D4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141732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D4B8"/>
                </a:solidFill>
              </a:rPr>
              <a:t>TORSO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0" y="2167128"/>
            <a:ext cx="182880" cy="182880"/>
          </a:xfrm>
          <a:prstGeom prst="ellipse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68880" y="2167128"/>
            <a:ext cx="182880" cy="182880"/>
          </a:xfrm>
          <a:prstGeom prst="ellipse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3040" y="2130552"/>
            <a:ext cx="777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D4B8"/>
                </a:solidFill>
              </a:rPr>
              <a:t>cadera_L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660904" y="2130552"/>
            <a:ext cx="777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D4B8"/>
                </a:solidFill>
              </a:rPr>
              <a:t>cadera_R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847088" y="2331720"/>
            <a:ext cx="201168" cy="566928"/>
          </a:xfrm>
          <a:prstGeom prst="rect">
            <a:avLst/>
          </a:prstGeom>
          <a:solidFill>
            <a:srgbClr val="FF6B35">
              <a:alpha val="80000"/>
            </a:srgbClr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2304" y="2331720"/>
            <a:ext cx="201168" cy="566928"/>
          </a:xfrm>
          <a:prstGeom prst="rect">
            <a:avLst/>
          </a:prstGeom>
          <a:solidFill>
            <a:srgbClr val="FF6B35">
              <a:alpha val="80000"/>
            </a:srgbClr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63040" y="2532888"/>
            <a:ext cx="777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6B35"/>
                </a:solidFill>
              </a:rPr>
              <a:t>muslo_L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642616" y="2532888"/>
            <a:ext cx="777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6B35"/>
                </a:solidFill>
              </a:rPr>
              <a:t>muslo_R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874520" y="2862072"/>
            <a:ext cx="164592" cy="164592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41448" y="2862072"/>
            <a:ext cx="164592" cy="164592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63040" y="2843784"/>
            <a:ext cx="777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D700"/>
                </a:solidFill>
              </a:rPr>
              <a:t>rodilla_L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615184" y="2843784"/>
            <a:ext cx="777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700"/>
                </a:solidFill>
              </a:rPr>
              <a:t>rodilla_R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874520" y="3008376"/>
            <a:ext cx="173736" cy="548640"/>
          </a:xfrm>
          <a:prstGeom prst="rect">
            <a:avLst/>
          </a:prstGeom>
          <a:solidFill>
            <a:srgbClr val="FF6B35">
              <a:alpha val="50000"/>
            </a:srgbClr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32304" y="3008376"/>
            <a:ext cx="173736" cy="548640"/>
          </a:xfrm>
          <a:prstGeom prst="rect">
            <a:avLst/>
          </a:prstGeom>
          <a:solidFill>
            <a:srgbClr val="FF6B35">
              <a:alpha val="50000"/>
            </a:srgbClr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17320" y="3209544"/>
            <a:ext cx="777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A3BF"/>
                </a:solidFill>
              </a:rPr>
              <a:t>espinilla_L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615184" y="3209544"/>
            <a:ext cx="777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A3BF"/>
                </a:solidFill>
              </a:rPr>
              <a:t>espinilla_R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40080" y="4617720"/>
            <a:ext cx="3474720" cy="73152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31920" y="45720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CC71"/>
                </a:solidFill>
              </a:rPr>
              <a:t>suelo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475488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BF"/>
                </a:solidFill>
              </a:rPr>
              <a:t>5 cuerpos rígidos + 4 restricciones articuladas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498848" y="1097280"/>
            <a:ext cx="64008" cy="347472"/>
          </a:xfrm>
          <a:prstGeom prst="rect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45152" y="1097280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física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45152" y="1271016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Matter.js (2D)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498848" y="1609344"/>
            <a:ext cx="64008" cy="347472"/>
          </a:xfrm>
          <a:prstGeom prst="rect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45152" y="1609344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Fricción de aire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645152" y="1783080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 — mantiene equilibrio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498848" y="2121408"/>
            <a:ext cx="64008" cy="347472"/>
          </a:xfrm>
          <a:prstGeom prst="rect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45152" y="2121408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Fricción suelo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645152" y="229514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 — grip realista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498848" y="2633472"/>
            <a:ext cx="64008" cy="34747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45152" y="2633472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Gravedad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645152" y="280720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1.0 (estándar)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498848" y="3145536"/>
            <a:ext cx="64008" cy="34747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45152" y="3145536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joints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645152" y="3319272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 · error (proporcional)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498848" y="3657600"/>
            <a:ext cx="64008" cy="347472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45152" y="3657600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 colisión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645152" y="3831336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avatar / suelo / obstáculos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498848" y="4169664"/>
            <a:ext cx="64008" cy="347472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45152" y="4169664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obstáculos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645152" y="4343400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activa al superar 1000 px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Genoma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8686800" cy="36576"/>
          </a:xfrm>
          <a:prstGeom prst="rect">
            <a:avLst/>
          </a:prstGeom>
          <a:solidFill>
            <a:srgbClr val="1C3A58"/>
          </a:solidFill>
          <a:ln w="12700">
            <a:solidFill>
              <a:srgbClr val="1C3A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genes de valor real codifican osciladores sinusoidales para cada articulación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8412480" cy="658368"/>
          </a:xfrm>
          <a:prstGeom prst="rect">
            <a:avLst/>
          </a:prstGeom>
          <a:solidFill>
            <a:srgbClr val="081524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4630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D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θ_target(t) = amplitude · sin( 2π · stride_freq · step / 60 + phase 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212848"/>
            <a:ext cx="594360" cy="320040"/>
          </a:xfrm>
          <a:prstGeom prst="rect">
            <a:avLst/>
          </a:prstGeom>
          <a:solidFill>
            <a:srgbClr val="1C3A58"/>
          </a:solidFill>
          <a:ln w="12700">
            <a:solidFill>
              <a:srgbClr val="1C3A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1284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B8"/>
                </a:solidFill>
              </a:rPr>
              <a:t>#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143000" y="2212848"/>
            <a:ext cx="1188720" cy="320040"/>
          </a:xfrm>
          <a:prstGeom prst="rect">
            <a:avLst/>
          </a:prstGeom>
          <a:solidFill>
            <a:srgbClr val="1C3A58"/>
          </a:solidFill>
          <a:ln w="12700">
            <a:solidFill>
              <a:srgbClr val="1C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221284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B8"/>
                </a:solidFill>
              </a:rPr>
              <a:t>Gen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77440" y="2212848"/>
            <a:ext cx="1645920" cy="320040"/>
          </a:xfrm>
          <a:prstGeom prst="rect">
            <a:avLst/>
          </a:prstGeom>
          <a:solidFill>
            <a:srgbClr val="1C3A58"/>
          </a:solidFill>
          <a:ln w="12700">
            <a:solidFill>
              <a:srgbClr val="1C3A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3160" y="2212848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B8"/>
                </a:solidFill>
              </a:rPr>
              <a:t>Articulación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069080" y="2212848"/>
            <a:ext cx="2377440" cy="320040"/>
          </a:xfrm>
          <a:prstGeom prst="rect">
            <a:avLst/>
          </a:prstGeom>
          <a:solidFill>
            <a:srgbClr val="1C3A58"/>
          </a:solidFill>
          <a:ln w="12700">
            <a:solidFill>
              <a:srgbClr val="1C3A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0" y="22128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B8"/>
                </a:solidFill>
              </a:rPr>
              <a:t>Tipo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92240" y="2212848"/>
            <a:ext cx="2286000" cy="320040"/>
          </a:xfrm>
          <a:prstGeom prst="rect">
            <a:avLst/>
          </a:prstGeom>
          <a:solidFill>
            <a:srgbClr val="1C3A58"/>
          </a:solidFill>
          <a:ln w="12700">
            <a:solidFill>
              <a:srgbClr val="1C3A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21284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B8"/>
                </a:solidFill>
              </a:rPr>
              <a:t>Rango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532888"/>
            <a:ext cx="8366760" cy="393192"/>
          </a:xfrm>
          <a:prstGeom prst="rect">
            <a:avLst/>
          </a:prstGeom>
          <a:solidFill>
            <a:srgbClr val="0D2A1F"/>
          </a:solidFill>
          <a:ln w="6350">
            <a:solidFill>
              <a:srgbClr val="1C3A5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2532888"/>
            <a:ext cx="54864" cy="393192"/>
          </a:xfrm>
          <a:prstGeom prst="rect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25511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16152" y="2551176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phase_hip, amp_hip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450592" y="255117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Cadera izq.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42232" y="255117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/ Amplitud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65392" y="255117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 2π] / [0, π/2]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944368"/>
            <a:ext cx="8366760" cy="393192"/>
          </a:xfrm>
          <a:prstGeom prst="rect">
            <a:avLst/>
          </a:prstGeom>
          <a:solidFill>
            <a:srgbClr val="0D1F2A"/>
          </a:solidFill>
          <a:ln w="6350">
            <a:solidFill>
              <a:srgbClr val="1C3A5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2944368"/>
            <a:ext cx="54864" cy="393192"/>
          </a:xfrm>
          <a:prstGeom prst="rect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072" y="296265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16152" y="2962656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phase_knee, amp_knee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450592" y="29626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Rodilla izq.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42232" y="296265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/ Amplitud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65392" y="29626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 2π] / [0, π/3]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3355848"/>
            <a:ext cx="8366760" cy="393192"/>
          </a:xfrm>
          <a:prstGeom prst="rect">
            <a:avLst/>
          </a:prstGeom>
          <a:solidFill>
            <a:srgbClr val="0D2A1F"/>
          </a:solidFill>
          <a:ln w="6350">
            <a:solidFill>
              <a:srgbClr val="1C3A5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3355848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" y="337413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216152" y="3374136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phase_hip, amp_hip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450592" y="337413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Cadera der.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142232" y="337413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/ Amplitud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65392" y="337413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 2π] / [0, π/2]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02920" y="3767328"/>
            <a:ext cx="8366760" cy="393192"/>
          </a:xfrm>
          <a:prstGeom prst="rect">
            <a:avLst/>
          </a:prstGeom>
          <a:solidFill>
            <a:srgbClr val="0D1F2A"/>
          </a:solidFill>
          <a:ln w="6350">
            <a:solidFill>
              <a:srgbClr val="1C3A5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" y="3767328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6072" y="378561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6–7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216152" y="3785616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phase_knee, amp_knee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2450592" y="378561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Rodilla der.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142232" y="378561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/ Amplitud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65392" y="378561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 2π] / [0, π/3]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02920" y="4178808"/>
            <a:ext cx="8366760" cy="393192"/>
          </a:xfrm>
          <a:prstGeom prst="rect">
            <a:avLst/>
          </a:prstGeom>
          <a:solidFill>
            <a:srgbClr val="1A1230"/>
          </a:solidFill>
          <a:ln w="6350">
            <a:solidFill>
              <a:srgbClr val="1C3A5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2920" y="4178808"/>
            <a:ext cx="54864" cy="393192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" y="419709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216152" y="4197096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stride_freq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450592" y="419709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142232" y="419709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oscil.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565392" y="419709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[0.3, 2.0]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02920" y="47091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[!]  Inicialización híbrida: 50% con patrón de marcha pre-seeded (phase_hip_R aprox phase_hip_L + π) + 50% aleatorio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Ciclo del Algoritmo Genético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8686800" cy="36576"/>
          </a:xfrm>
          <a:prstGeom prst="rect">
            <a:avLst/>
          </a:prstGeom>
          <a:solidFill>
            <a:srgbClr val="1C3A58"/>
          </a:solidFill>
          <a:ln w="12700">
            <a:solidFill>
              <a:srgbClr val="1C3A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1024128"/>
            <a:ext cx="1609344" cy="3749040"/>
          </a:xfrm>
          <a:prstGeom prst="rect">
            <a:avLst/>
          </a:prstGeom>
          <a:solidFill>
            <a:srgbClr val="0A1E30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84048" y="1024128"/>
            <a:ext cx="1609344" cy="73152"/>
          </a:xfrm>
          <a:prstGeom prst="rect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0976" y="1188720"/>
            <a:ext cx="475488" cy="475488"/>
          </a:xfrm>
          <a:prstGeom prst="ellipse">
            <a:avLst/>
          </a:prstGeom>
          <a:solidFill>
            <a:srgbClr val="00D4B8">
              <a:alpha val="80000"/>
            </a:srgbClr>
          </a:solidFill>
          <a:ln w="25400">
            <a:solidFill>
              <a:srgbClr val="00D4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11887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B8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1755648"/>
            <a:ext cx="731520" cy="420624"/>
          </a:xfrm>
          <a:prstGeom prst="rect">
            <a:avLst/>
          </a:prstGeom>
          <a:solidFill>
            <a:srgbClr val="00D4B8">
              <a:alpha val="70000"/>
            </a:srgbClr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55648"/>
            <a:ext cx="731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RUN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670048"/>
            <a:ext cx="1463040" cy="1938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individuo corre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 pasos de física.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 = distancia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recorrida - penalización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caída.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02536" y="2788920"/>
            <a:ext cx="128016" cy="36576"/>
          </a:xfrm>
          <a:prstGeom prst="rect">
            <a:avLst/>
          </a:prstGeom>
          <a:solidFill>
            <a:srgbClr val="8BA3BF"/>
          </a:solidFill>
          <a:ln w="12700">
            <a:solidFill>
              <a:srgbClr val="8BA3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48256" y="2651760"/>
            <a:ext cx="137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A3BF"/>
                </a:solidFill>
              </a:rPr>
              <a:t>›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139696" y="1024128"/>
            <a:ext cx="1609344" cy="3749040"/>
          </a:xfrm>
          <a:prstGeom prst="rect">
            <a:avLst/>
          </a:prstGeom>
          <a:solidFill>
            <a:srgbClr val="0A1E30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139696" y="1024128"/>
            <a:ext cx="1609344" cy="73152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06624" y="1188720"/>
            <a:ext cx="475488" cy="475488"/>
          </a:xfrm>
          <a:prstGeom prst="ellipse">
            <a:avLst/>
          </a:prstGeom>
          <a:solidFill>
            <a:srgbClr val="7B61FF">
              <a:alpha val="80000"/>
            </a:srgbClr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06624" y="11887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61FF"/>
                </a:solidFill>
              </a:rPr>
              <a:t>2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2578608" y="1755648"/>
            <a:ext cx="731520" cy="420624"/>
          </a:xfrm>
          <a:prstGeom prst="rect">
            <a:avLst/>
          </a:prstGeom>
          <a:solidFill>
            <a:srgbClr val="7B61FF">
              <a:alpha val="70000"/>
            </a:srgbClr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78608" y="1755648"/>
            <a:ext cx="731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TOP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12848" y="22860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212848" y="2670048"/>
            <a:ext cx="1463040" cy="1938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Torneo binario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(K=2): el mejor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 elegidos al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azar pasa 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padre.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758184" y="2788920"/>
            <a:ext cx="128016" cy="36576"/>
          </a:xfrm>
          <a:prstGeom prst="rect">
            <a:avLst/>
          </a:prstGeom>
          <a:solidFill>
            <a:srgbClr val="8BA3BF"/>
          </a:solidFill>
          <a:ln w="12700">
            <a:solidFill>
              <a:srgbClr val="8BA3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03904" y="2651760"/>
            <a:ext cx="137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A3BF"/>
                </a:solidFill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895344" y="1024128"/>
            <a:ext cx="1609344" cy="3749040"/>
          </a:xfrm>
          <a:prstGeom prst="rect">
            <a:avLst/>
          </a:prstGeom>
          <a:solidFill>
            <a:srgbClr val="0A1E30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895344" y="1024128"/>
            <a:ext cx="1609344" cy="7315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62272" y="1188720"/>
            <a:ext cx="475488" cy="475488"/>
          </a:xfrm>
          <a:prstGeom prst="ellipse">
            <a:avLst/>
          </a:prstGeom>
          <a:solidFill>
            <a:srgbClr val="FF6B35">
              <a:alpha val="80000"/>
            </a:srgbClr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62272" y="11887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35"/>
                </a:solidFill>
              </a:rPr>
              <a:t>3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4334256" y="1755648"/>
            <a:ext cx="731520" cy="420624"/>
          </a:xfrm>
          <a:prstGeom prst="rect">
            <a:avLst/>
          </a:prstGeom>
          <a:solidFill>
            <a:srgbClr val="FF6B35">
              <a:alpha val="70000"/>
            </a:srgbClr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34256" y="1755648"/>
            <a:ext cx="731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X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968496" y="22860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68496" y="2670048"/>
            <a:ext cx="1463040" cy="1938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Cruce uniforme: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gen se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 padre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 B con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50%.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513832" y="2788920"/>
            <a:ext cx="128016" cy="36576"/>
          </a:xfrm>
          <a:prstGeom prst="rect">
            <a:avLst/>
          </a:prstGeom>
          <a:solidFill>
            <a:srgbClr val="8BA3BF"/>
          </a:solidFill>
          <a:ln w="12700">
            <a:solidFill>
              <a:srgbClr val="8BA3B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59552" y="2651760"/>
            <a:ext cx="137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A3BF"/>
                </a:solidFill>
              </a:rPr>
              <a:t>›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5650992" y="1024128"/>
            <a:ext cx="1609344" cy="3749040"/>
          </a:xfrm>
          <a:prstGeom prst="rect">
            <a:avLst/>
          </a:prstGeom>
          <a:solidFill>
            <a:srgbClr val="0A1E30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650992" y="1024128"/>
            <a:ext cx="1609344" cy="73152"/>
          </a:xfrm>
          <a:prstGeom prst="rect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1188720"/>
            <a:ext cx="475488" cy="475488"/>
          </a:xfrm>
          <a:prstGeom prst="ellipse">
            <a:avLst/>
          </a:prstGeom>
          <a:solidFill>
            <a:srgbClr val="FFD700">
              <a:alpha val="80000"/>
            </a:srgbClr>
          </a:solidFill>
          <a:ln w="25400">
            <a:solidFill>
              <a:srgbClr val="FFD7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0" y="11887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</a:rPr>
              <a:t>4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6089904" y="1755648"/>
            <a:ext cx="731520" cy="420624"/>
          </a:xfrm>
          <a:prstGeom prst="rect">
            <a:avLst/>
          </a:prstGeom>
          <a:solidFill>
            <a:srgbClr val="FFD700">
              <a:alpha val="70000"/>
            </a:srgbClr>
          </a:solidFill>
          <a:ln w="12700">
            <a:solidFill>
              <a:srgbClr val="FFD7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89904" y="1755648"/>
            <a:ext cx="731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MUT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724144" y="22860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Mutación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724144" y="2670048"/>
            <a:ext cx="1463040" cy="1938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Gaussiana adaptiva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(sigma dinámico).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P(mutación) = 25%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gen.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269480" y="2788920"/>
            <a:ext cx="128016" cy="36576"/>
          </a:xfrm>
          <a:prstGeom prst="rect">
            <a:avLst/>
          </a:prstGeom>
          <a:solidFill>
            <a:srgbClr val="8BA3BF"/>
          </a:solidFill>
          <a:ln w="12700">
            <a:solidFill>
              <a:srgbClr val="8BA3B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0" y="2651760"/>
            <a:ext cx="137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A3BF"/>
                </a:solidFill>
              </a:rPr>
              <a:t>›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7406640" y="1024128"/>
            <a:ext cx="1609344" cy="3749040"/>
          </a:xfrm>
          <a:prstGeom prst="rect">
            <a:avLst/>
          </a:prstGeom>
          <a:solidFill>
            <a:srgbClr val="0A1E30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406640" y="1024128"/>
            <a:ext cx="1609344" cy="73152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73568" y="1188720"/>
            <a:ext cx="475488" cy="475488"/>
          </a:xfrm>
          <a:prstGeom prst="ellipse">
            <a:avLst/>
          </a:prstGeom>
          <a:solidFill>
            <a:srgbClr val="2ECC71">
              <a:alpha val="80000"/>
            </a:srgbClr>
          </a:solidFill>
          <a:ln w="25400">
            <a:solidFill>
              <a:srgbClr val="2ECC7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73568" y="11887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CC71"/>
                </a:solidFill>
              </a:rPr>
              <a:t>5</a:t>
            </a:r>
            <a:endParaRPr lang="en-US" sz="2200" dirty="0"/>
          </a:p>
        </p:txBody>
      </p:sp>
      <p:sp>
        <p:nvSpPr>
          <p:cNvPr id="48" name="Shape 46"/>
          <p:cNvSpPr/>
          <p:nvPr/>
        </p:nvSpPr>
        <p:spPr>
          <a:xfrm>
            <a:off x="7845552" y="1755648"/>
            <a:ext cx="731520" cy="420624"/>
          </a:xfrm>
          <a:prstGeom prst="rect">
            <a:avLst/>
          </a:prstGeom>
          <a:solidFill>
            <a:srgbClr val="2ECC71">
              <a:alpha val="70000"/>
            </a:srgbClr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45552" y="1755648"/>
            <a:ext cx="731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#1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7479792" y="22860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Élite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479792" y="2670048"/>
            <a:ext cx="1463040" cy="1938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mejor individuo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 intacto 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siguiente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(ELITE=1).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11480" y="4864608"/>
            <a:ext cx="8458200" cy="36576"/>
          </a:xfrm>
          <a:prstGeom prst="rect">
            <a:avLst/>
          </a:prstGeom>
          <a:solidFill>
            <a:srgbClr val="1C3A58"/>
          </a:solidFill>
          <a:ln w="12700">
            <a:solidFill>
              <a:srgbClr val="1C3A5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4901184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Repite hasta alcanzar el límite de fitness o hasta que el usuario detenga la simulación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Intensificación y Diversificación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8686800" cy="36576"/>
          </a:xfrm>
          <a:prstGeom prst="rect">
            <a:avLst/>
          </a:prstGeom>
          <a:solidFill>
            <a:srgbClr val="1C3A58"/>
          </a:solidFill>
          <a:ln w="12700">
            <a:solidFill>
              <a:srgbClr val="1C3A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1024128"/>
            <a:ext cx="4069080" cy="3931920"/>
          </a:xfrm>
          <a:prstGeom prst="rect">
            <a:avLst/>
          </a:prstGeom>
          <a:solidFill>
            <a:srgbClr val="112233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024128"/>
            <a:ext cx="4069080" cy="73152"/>
          </a:xfrm>
          <a:prstGeom prst="rect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70432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INTENSIFICACIÓN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517904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A3BF"/>
                </a:solidFill>
              </a:rPr>
              <a:t>σ adaptivo basado en diversidad poblacional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3749040" cy="621792"/>
          </a:xfrm>
          <a:prstGeom prst="rect">
            <a:avLst/>
          </a:prstGeom>
          <a:solidFill>
            <a:srgbClr val="081524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9202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 = σ_fitness / μ_fitness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0D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σ_mutación = 0.15 + 0.75 × (1 − CV)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Diversidad alta (CV alto) -&gt; σ bajo -&gt; EXPLOTACIÓN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00837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Diversidad baja (CV bajo) -&gt; σ alto -&gt; EXPLORACIÓN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41071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Rango de σ: [0.15, 0.90]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024128"/>
            <a:ext cx="4069080" cy="3931920"/>
          </a:xfrm>
          <a:prstGeom prst="rect">
            <a:avLst/>
          </a:prstGeom>
          <a:solidFill>
            <a:srgbClr val="112233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24128"/>
            <a:ext cx="4069080" cy="7315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170432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DIVERSIFICACIÓN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46320" y="1517904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A3BF"/>
                </a:solidFill>
              </a:rPr>
              <a:t>Detección y recuperación de estancamiento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92040" y="1874520"/>
            <a:ext cx="3749040" cy="621792"/>
          </a:xfrm>
          <a:prstGeom prst="rect">
            <a:avLst/>
          </a:prstGeom>
          <a:solidFill>
            <a:srgbClr val="1C0D00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37760" y="19202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Ventana = 7 gen. · Δbest_fitness &lt; 3 px → ESTANCADO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46320" y="260604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σ x 1.5 para hijos de cruce (shake)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300837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~13 individuos seeded (patrón marcha)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341071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~10 individuos totalmente aleatorios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46320" y="381304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Total inyectado: ~23% de la población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4864608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estrategias trabajan juntas para evitar óptimos locales y acelerar la convergencia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Fitness y Progresión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8686800" cy="36576"/>
          </a:xfrm>
          <a:prstGeom prst="rect">
            <a:avLst/>
          </a:prstGeom>
          <a:solidFill>
            <a:srgbClr val="1C3A58"/>
          </a:solidFill>
          <a:ln w="12700">
            <a:solidFill>
              <a:srgbClr val="1C3A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1024128"/>
            <a:ext cx="4069080" cy="2331720"/>
          </a:xfrm>
          <a:prstGeom prst="rect">
            <a:avLst/>
          </a:prstGeom>
          <a:solidFill>
            <a:srgbClr val="112233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972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Función de Fitness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794760" cy="658368"/>
          </a:xfrm>
          <a:prstGeom prst="rect">
            <a:avLst/>
          </a:prstGeom>
          <a:solidFill>
            <a:srgbClr val="081524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536192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fitness = max(0, distancia − penalización_caída)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D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penalización = min(distancia × 0.5, 80)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258568"/>
            <a:ext cx="91440" cy="91440"/>
          </a:xfrm>
          <a:prstGeom prst="ellipse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21284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= posX_torso − posX_spawn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542032"/>
            <a:ext cx="91440" cy="91440"/>
          </a:xfrm>
          <a:prstGeom prst="ellipse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496312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Penalización si torso.y &gt; umbral_caída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825496"/>
            <a:ext cx="91440" cy="91440"/>
          </a:xfrm>
          <a:prstGeom prst="ellipse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779776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+200 px bonus por cada obstáculo superado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08960"/>
            <a:ext cx="91440" cy="91440"/>
          </a:xfrm>
          <a:prstGeom prst="ellipse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06324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obstáculos activo al superar 1000 px</a:t>
            </a:r>
            <a:endParaRPr lang="en-US" sz="11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709160" y="1024128"/>
          <a:ext cx="41605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411480" y="3474720"/>
            <a:ext cx="2743200" cy="1463040"/>
          </a:xfrm>
          <a:prstGeom prst="rect">
            <a:avLst/>
          </a:prstGeom>
          <a:solidFill>
            <a:srgbClr val="112233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1480" y="3474720"/>
            <a:ext cx="64008" cy="1463040"/>
          </a:xfrm>
          <a:prstGeom prst="rect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6072" y="3547872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76072" y="3913632"/>
            <a:ext cx="2487168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Torneo binario mantiene presión selectiva sin convergencia prematura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337560" y="3474720"/>
            <a:ext cx="2743200" cy="1463040"/>
          </a:xfrm>
          <a:prstGeom prst="rect">
            <a:avLst/>
          </a:prstGeom>
          <a:solidFill>
            <a:srgbClr val="112233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337560" y="3474720"/>
            <a:ext cx="64008" cy="146304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502152" y="3547872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Dinámico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502152" y="3913632"/>
            <a:ext cx="2487168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Mutación adaptiva balancea explotación y exploración automáticamente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63640" y="3474720"/>
            <a:ext cx="2743200" cy="1463040"/>
          </a:xfrm>
          <a:prstGeom prst="rect">
            <a:avLst/>
          </a:prstGeom>
          <a:solidFill>
            <a:srgbClr val="112233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263640" y="3474720"/>
            <a:ext cx="64008" cy="146304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28232" y="3547872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Anti-stagnation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428232" y="3913632"/>
            <a:ext cx="2487168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de individuos frescos reactiva la búsqueda cuando el fitness se atasca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-457200"/>
            <a:ext cx="4114800" cy="4114800"/>
          </a:xfrm>
          <a:prstGeom prst="ellipse">
            <a:avLst/>
          </a:prstGeom>
          <a:solidFill>
            <a:srgbClr val="003D35">
              <a:alpha val="80000"/>
            </a:srgbClr>
          </a:solidFill>
          <a:ln w="12700">
            <a:solidFill>
              <a:srgbClr val="003D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286000"/>
            <a:ext cx="3200400" cy="3200400"/>
          </a:xfrm>
          <a:prstGeom prst="ellipse">
            <a:avLst/>
          </a:prstGeom>
          <a:solidFill>
            <a:srgbClr val="1B1250">
              <a:alpha val="75000"/>
            </a:srgbClr>
          </a:solidFill>
          <a:ln w="12700">
            <a:solidFill>
              <a:srgbClr val="1B12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502920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Conclusiones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3794760" cy="1463040"/>
          </a:xfrm>
          <a:prstGeom prst="rect">
            <a:avLst/>
          </a:prstGeom>
          <a:solidFill>
            <a:srgbClr val="0A1E30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371600"/>
            <a:ext cx="64008" cy="1463040"/>
          </a:xfrm>
          <a:prstGeom prst="rect">
            <a:avLst/>
          </a:prstGeom>
          <a:solidFill>
            <a:srgbClr val="00D4B8"/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1536192"/>
            <a:ext cx="384048" cy="384048"/>
          </a:xfrm>
          <a:prstGeom prst="ellipse">
            <a:avLst/>
          </a:prstGeom>
          <a:solidFill>
            <a:srgbClr val="00D4B8">
              <a:alpha val="80000"/>
            </a:srgbClr>
          </a:solidFill>
          <a:ln w="12700">
            <a:solidFill>
              <a:srgbClr val="00D4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5361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DNA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53312" y="1554480"/>
            <a:ext cx="3090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Codificación efectiva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1965960"/>
            <a:ext cx="3547872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genes reales capturan patrones de marcha bípeda sin modelado explícito del movimiento.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46320" y="1371600"/>
            <a:ext cx="3794760" cy="1463040"/>
          </a:xfrm>
          <a:prstGeom prst="rect">
            <a:avLst/>
          </a:prstGeom>
          <a:solidFill>
            <a:srgbClr val="0A1E30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46320" y="1371600"/>
            <a:ext cx="64008" cy="146304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10912" y="1536192"/>
            <a:ext cx="384048" cy="384048"/>
          </a:xfrm>
          <a:prstGeom prst="ellipse">
            <a:avLst/>
          </a:prstGeom>
          <a:solidFill>
            <a:srgbClr val="7B61FF">
              <a:alpha val="80000"/>
            </a:srgbClr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10912" y="15361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&lt;&lt;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68112" y="1554480"/>
            <a:ext cx="3090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Convergencia rápida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10912" y="1965960"/>
            <a:ext cx="3547872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inicialización semi-seeded reduce generaciones necesarias para encontrar marcha viable.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063240"/>
            <a:ext cx="3794760" cy="1463040"/>
          </a:xfrm>
          <a:prstGeom prst="rect">
            <a:avLst/>
          </a:prstGeom>
          <a:solidFill>
            <a:srgbClr val="0A1E30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3063240"/>
            <a:ext cx="64008" cy="146304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6112" y="3227832"/>
            <a:ext cx="384048" cy="384048"/>
          </a:xfrm>
          <a:prstGeom prst="ellipse">
            <a:avLst/>
          </a:prstGeom>
          <a:solidFill>
            <a:srgbClr val="FF6B35">
              <a:alpha val="80000"/>
            </a:srgbClr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2278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~o~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353312" y="3246120"/>
            <a:ext cx="3090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exp./explor.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96112" y="3657600"/>
            <a:ext cx="3547872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dinámico + inyección anti-estancamiento evitan óptimos locales de forma automática.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3063240"/>
            <a:ext cx="3794760" cy="1463040"/>
          </a:xfrm>
          <a:prstGeom prst="rect">
            <a:avLst/>
          </a:prstGeom>
          <a:solidFill>
            <a:srgbClr val="0A1E30"/>
          </a:solidFill>
          <a:ln w="15240">
            <a:solidFill>
              <a:srgbClr val="1C3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46320" y="3063240"/>
            <a:ext cx="64008" cy="14630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10912" y="3227832"/>
            <a:ext cx="384048" cy="384048"/>
          </a:xfrm>
          <a:prstGeom prst="ellipse">
            <a:avLst/>
          </a:prstGeom>
          <a:solidFill>
            <a:srgbClr val="2ECC71">
              <a:alpha val="80000"/>
            </a:srgbClr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10912" y="32278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#1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68112" y="3246120"/>
            <a:ext cx="3090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10912" y="3657600"/>
            <a:ext cx="3547872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avatar aprende a caminar y superar obstáculos únicamente mediante selección natural artificial.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709160"/>
            <a:ext cx="8321040" cy="36576"/>
          </a:xfrm>
          <a:prstGeom prst="rect">
            <a:avLst/>
          </a:prstGeom>
          <a:solidFill>
            <a:srgbClr val="1C3A58"/>
          </a:solidFill>
          <a:ln w="12700">
            <a:solidFill>
              <a:srgbClr val="1C3A5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773168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Leandro Estrada  ·  Jerson Chura  ·  Joel Urday   |   Inteligencia Artificial · Universidad La Salle ·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Bipedal Walker · Algoritmo Genético</dc:title>
  <dc:subject>PptxGenJS Presentation</dc:subject>
  <dc:creator>Leandro Igor Estrada Santos, Jerson Ernesto Chura Pacci, Joel Robert Urday Jerí</dc:creator>
  <cp:lastModifiedBy>Leandro Igor Estrada Santos, Jerson Ernesto Chura Pacci, Joel Robert Urday Jerí</cp:lastModifiedBy>
  <cp:revision>1</cp:revision>
  <dcterms:created xsi:type="dcterms:W3CDTF">2026-05-22T16:49:54Z</dcterms:created>
  <dcterms:modified xsi:type="dcterms:W3CDTF">2026-05-22T16:49:54Z</dcterms:modified>
</cp:coreProperties>
</file>